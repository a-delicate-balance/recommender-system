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DM Sans Medium"/>
      <p:regular r:id="rId19"/>
      <p:bold r:id="rId20"/>
      <p:italic r:id="rId21"/>
      <p:boldItalic r:id="rId22"/>
    </p:embeddedFont>
    <p:embeddedFont>
      <p:font typeface="Merriweather"/>
      <p:regular r:id="rId23"/>
      <p:bold r:id="rId24"/>
      <p:italic r:id="rId25"/>
      <p:boldItalic r:id="rId26"/>
    </p:embeddedFont>
    <p:embeddedFont>
      <p:font typeface="DM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Medium-bold.fntdata"/><Relationship Id="rId22" Type="http://schemas.openxmlformats.org/officeDocument/2006/relationships/font" Target="fonts/DMSansMedium-boldItalic.fntdata"/><Relationship Id="rId21" Type="http://schemas.openxmlformats.org/officeDocument/2006/relationships/font" Target="fonts/DMSansMedium-italic.fntdata"/><Relationship Id="rId24" Type="http://schemas.openxmlformats.org/officeDocument/2006/relationships/font" Target="fonts/Merriweather-bold.fntdata"/><Relationship Id="rId23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Italic.fntdata"/><Relationship Id="rId25" Type="http://schemas.openxmlformats.org/officeDocument/2006/relationships/font" Target="fonts/Merriweather-italic.fntdata"/><Relationship Id="rId28" Type="http://schemas.openxmlformats.org/officeDocument/2006/relationships/font" Target="fonts/DMSans-bold.fntdata"/><Relationship Id="rId27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DMSans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DMSansMedium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dc9ff888c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ddc9ff888c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dc9ff888c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dc9ff888c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dd179334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dd179334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ddd179334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ddd179334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dd179334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dd179334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f06c1dbe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df06c1dbe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e7b5a8289d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e7b5a8289d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df06c1dbe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df06c1dbe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f06c1dbe3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f06c1dbe3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df06c1dbe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df06c1db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f06c1dbe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f06c1dbe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ddd179334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ddd179334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4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5" name="Google Shape;55;p1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6" name="Google Shape;56;p1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8" name="Google Shape;58;p1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2" name="Google Shape;62;p1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9" name="Google Shape;69;p1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0" name="Google Shape;70;p1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7" name="Google Shape;77;p16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8" name="Google Shape;78;p16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79" name="Google Shape;79;p16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7" name="Google Shape;87;p1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" name="Google Shape;88;p1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" name="Google Shape;89;p1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0" name="Google Shape;90;p1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3" name="Google Shape;103;p1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9" name="Google Shape;109;p2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1" name="Google Shape;111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13" name="Google Shape;113;p2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4" name="Google Shape;114;p2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5" name="Google Shape;115;p2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28" name="Google Shape;128;p2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3" name="Google Shape;133;p23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23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5" name="Google Shape;135;p23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9" name="Google Shape;139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24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2" name="Google Shape;142;p24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3" name="Google Shape;143;p24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24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49" name="Google Shape;149;p25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54" name="Google Shape;154;p26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5" name="Google Shape;155;p26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27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2" name="Google Shape;162;p27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5" name="Google Shape;165;p28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6" name="Google Shape;166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9" name="Google Shape;169;p28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0" name="Google Shape;170;p28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5" name="Google Shape;175;p2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76" name="Google Shape;176;p29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177" name="Google Shape;177;p2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1" name="Google Shape;181;p30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2" name="Google Shape;182;p30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3" name="Google Shape;183;p30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4" name="Google Shape;184;p30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5" name="Google Shape;185;p30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6" name="Google Shape;186;p30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7" name="Google Shape;187;p30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8" name="Google Shape;188;p30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89" name="Google Shape;189;p30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0" name="Google Shape;190;p30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1" name="Google Shape;191;p30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2" name="Google Shape;192;p30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3" name="Google Shape;193;p30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4" name="Google Shape;194;p30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5" name="Google Shape;195;p30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6" name="Google Shape;196;p30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7" name="Google Shape;197;p30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8" name="Google Shape;198;p30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199" name="Google Shape;199;p30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0" name="Google Shape;200;p30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1" name="Google Shape;201;p30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2" name="Google Shape;202;p30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3" name="Google Shape;203;p30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4" name="Google Shape;204;p30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5" name="Google Shape;205;p30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6" name="Google Shape;206;p30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07" name="Google Shape;207;p30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08" name="Google Shape;208;p30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2" name="Google Shape;212;p31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5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3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32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3"/>
          <p:cNvSpPr txBox="1"/>
          <p:nvPr>
            <p:ph type="ctrTitle"/>
          </p:nvPr>
        </p:nvSpPr>
        <p:spPr>
          <a:xfrm>
            <a:off x="196950" y="223825"/>
            <a:ext cx="8749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700"/>
              <a:t>Sustainable Product / Lifestyle Recommender System</a:t>
            </a:r>
            <a:endParaRPr sz="5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33"/>
          <p:cNvSpPr txBox="1"/>
          <p:nvPr>
            <p:ph idx="2" type="subTitle"/>
          </p:nvPr>
        </p:nvSpPr>
        <p:spPr>
          <a:xfrm>
            <a:off x="196950" y="3150125"/>
            <a:ext cx="4463400" cy="14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ubmitted to: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Shilpa Verma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Assistant Professor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Science and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Department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3"/>
          <p:cNvSpPr txBox="1"/>
          <p:nvPr>
            <p:ph idx="2" type="subTitle"/>
          </p:nvPr>
        </p:nvSpPr>
        <p:spPr>
          <a:xfrm>
            <a:off x="5594275" y="3150025"/>
            <a:ext cx="3352500" cy="14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Submitted by:                                                                   </a:t>
            </a:r>
            <a:endParaRPr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AutoNum type="arabicPeriod"/>
            </a:pPr>
            <a:r>
              <a:rPr lang="en"/>
              <a:t>Piyush Goyal (22106019)                                          </a:t>
            </a:r>
            <a:endParaRPr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AutoNum type="arabicPeriod"/>
            </a:pPr>
            <a:r>
              <a:rPr lang="en"/>
              <a:t>Sanidhya Shyam Sagar (22106024)</a:t>
            </a:r>
            <a:endParaRPr/>
          </a:p>
          <a:p>
            <a:pPr indent="-346075" lvl="0" marL="457200" rtl="0" algn="l">
              <a:spcBef>
                <a:spcPts val="0"/>
              </a:spcBef>
              <a:spcAft>
                <a:spcPts val="0"/>
              </a:spcAft>
              <a:buSzPts val="1850"/>
              <a:buAutoNum type="arabicPeriod"/>
            </a:pPr>
            <a:r>
              <a:rPr lang="en"/>
              <a:t>Parth (22106026)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Increasing climate change and environmental degradation have made sustainable living a global priority.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Daily lifestyle choices such as transportation, diet, energy usage, and consumption habits significantly impact the environment.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Despite awareness, individuals often lack personalized guidance to adopt sustainable practices.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Existing solutions provide generic recommendations, which may not suit individual lifestyles.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This project introduces a Sustainable Lifestyle &amp; Product Recommendation System.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system also recommends eco-friendly products based on user lifestyle patterns.</a:t>
            </a:r>
            <a:endParaRPr/>
          </a:p>
        </p:txBody>
      </p:sp>
      <p:sp>
        <p:nvSpPr>
          <p:cNvPr id="229" name="Google Shape;22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235" name="Google Shape;235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Increasing environmental concerns require a shift toward sustainable product usage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Many users are willing to adopt eco-friendly alternatives but face difficulty in identifying suitable products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Online platforms provide a large number of options, but lack focused filtering for sustainability needs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Users do not have a simple system that connects their lifestyle choices to relevant eco-friendly products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Existing solutions are often complex or not user-friendly for quick decision-making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There is a need for a simple and effective system that takes user inputs related to their lifestyle and recommends relevant eco-friendly products to user based on their choices.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241" name="Google Shape;241;p3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collect user inputs related to basic lifestyle habits through a form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identify user needs based on inputs such as transport, energy usage, and consumption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map user inputs to relevant eco-friendly product categories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develop a simple system that suggests relevant sustainable products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To provide an easy-to-use interface for quick and effective decision-making</a:t>
            </a:r>
            <a:endParaRPr/>
          </a:p>
        </p:txBody>
      </p:sp>
      <p:pic>
        <p:nvPicPr>
          <p:cNvPr id="242" name="Google Shape;242;p36" title="Screenshot 2026-05-06 23572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200" cy="3398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Used </a:t>
            </a:r>
            <a:endParaRPr/>
          </a:p>
        </p:txBody>
      </p:sp>
      <p:sp>
        <p:nvSpPr>
          <p:cNvPr id="248" name="Google Shape;248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have used two datasets for this project:</a:t>
            </a:r>
            <a:endParaRPr/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/>
              <a:t>Sustainable Lifestyle Rating Dataset:</a:t>
            </a:r>
            <a:r>
              <a:rPr lang="en"/>
              <a:t> It has 20 </a:t>
            </a:r>
            <a:r>
              <a:rPr lang="en"/>
              <a:t>columns</a:t>
            </a:r>
            <a:r>
              <a:rPr lang="en"/>
              <a:t> and data from 500 participants. </a:t>
            </a:r>
            <a:br>
              <a:rPr lang="en"/>
            </a:br>
            <a:r>
              <a:rPr lang="en"/>
              <a:t>Features included like Diet habits (veg/non-veg, frequency), Transportation mode (car, public transport, etc.), Energy consumption (electricity source, usage), Shopping and consumption behavior. Used to analyze user behavior. 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b="1" lang="en"/>
              <a:t>Amazon Eco-Friendly Products Dataset: </a:t>
            </a:r>
            <a:r>
              <a:rPr lang="en"/>
              <a:t>Contains eco-friendly product information, it has 14 </a:t>
            </a:r>
            <a:r>
              <a:rPr lang="en"/>
              <a:t>columns and 343l products data. </a:t>
            </a:r>
            <a:br>
              <a:rPr lang="en"/>
            </a:br>
            <a:r>
              <a:rPr lang="en"/>
              <a:t>Includes features like Product name and category, Sustainability tags (eco-friendly, reusable, energy-efficient), Price and description. Used to recommend sustainable alternatives.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Preprocessing</a:t>
            </a:r>
            <a:endParaRPr/>
          </a:p>
        </p:txBody>
      </p:sp>
      <p:sp>
        <p:nvSpPr>
          <p:cNvPr id="254" name="Google Shape;254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Collected two datasets:</a:t>
            </a:r>
            <a:br>
              <a:rPr lang="en"/>
            </a:br>
            <a:r>
              <a:rPr lang="en"/>
              <a:t>- Lifestyle dataset (user habits)</a:t>
            </a:r>
            <a:br>
              <a:rPr lang="en"/>
            </a:br>
            <a:r>
              <a:rPr lang="en"/>
              <a:t>- Amazon eco-friendly products dataset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Data Cleaning:</a:t>
            </a:r>
            <a:br>
              <a:rPr lang="en"/>
            </a:br>
            <a:r>
              <a:rPr lang="en"/>
              <a:t>- Removed missing and duplicate values</a:t>
            </a:r>
            <a:br>
              <a:rPr lang="en"/>
            </a:br>
            <a:r>
              <a:rPr lang="en"/>
              <a:t>- Handled inconsistent or irrelevant entries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Feature Selection:</a:t>
            </a:r>
            <a:br>
              <a:rPr lang="en"/>
            </a:br>
            <a:r>
              <a:rPr lang="en"/>
              <a:t>- Selected important attributes such as transport, diet, energy, and consumption</a:t>
            </a:r>
            <a:br>
              <a:rPr lang="en"/>
            </a:br>
            <a:r>
              <a:rPr lang="en"/>
              <a:t>- Extracted relevant product fields like name, category, and description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Data Transformation:</a:t>
            </a:r>
            <a:br>
              <a:rPr lang="en"/>
            </a:br>
            <a:r>
              <a:rPr lang="en"/>
              <a:t>- Converted categorical values into a consistent format (e.g., lowercase)</a:t>
            </a:r>
            <a:br>
              <a:rPr lang="en"/>
            </a:br>
            <a:r>
              <a:rPr lang="en"/>
              <a:t>- Combined product attributes (name + category + description) for better matching</a:t>
            </a:r>
            <a:endParaRPr/>
          </a:p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Text Processing (for product dataset):</a:t>
            </a:r>
            <a:br>
              <a:rPr lang="en"/>
            </a:br>
            <a:r>
              <a:rPr lang="en"/>
              <a:t>- Removed special characters and unnecessary text</a:t>
            </a:r>
            <a:br>
              <a:rPr lang="en"/>
            </a:br>
            <a:r>
              <a:rPr lang="en"/>
              <a:t>- Prepared text for keyword-based filtering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9"/>
          <p:cNvSpPr txBox="1"/>
          <p:nvPr>
            <p:ph idx="1" type="body"/>
          </p:nvPr>
        </p:nvSpPr>
        <p:spPr>
          <a:xfrm>
            <a:off x="311700" y="1152475"/>
            <a:ext cx="4677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In this project we take user through a form in which several questions are asked user about their lifestyle.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After user has given input, we categorize the input into one of the user clusters.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 user clusters are already associated with product clusters, which are then used to gather recommendations for the user.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These recommendations are the presented to the user on the website.  </a:t>
            </a:r>
            <a:endParaRPr/>
          </a:p>
        </p:txBody>
      </p:sp>
      <p:sp>
        <p:nvSpPr>
          <p:cNvPr id="260" name="Google Shape;26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Working</a:t>
            </a:r>
            <a:endParaRPr/>
          </a:p>
        </p:txBody>
      </p:sp>
      <p:pic>
        <p:nvPicPr>
          <p:cNvPr id="261" name="Google Shape;261;p39" title="ChatGPT Image May 7, 2026, 10_53_53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525" y="445025"/>
            <a:ext cx="3228175" cy="41238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Techniques used for recommendation</a:t>
            </a:r>
            <a:endParaRPr/>
          </a:p>
        </p:txBody>
      </p:sp>
      <p:sp>
        <p:nvSpPr>
          <p:cNvPr id="267" name="Google Shape;26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TF-IDF Vectorization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used TF-IDF to convert terms into numerical vectors for our clustering algorithm.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is a simple and quick vectorization method for our use-case.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method is however </a:t>
            </a:r>
            <a:r>
              <a:rPr lang="en"/>
              <a:t>susceptible</a:t>
            </a:r>
            <a:r>
              <a:rPr lang="en"/>
              <a:t> to noise, e.g. brands names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b="1" lang="en"/>
              <a:t>K-Means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used K-Means to cluster user data and product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K-Means clustering is very useful for our use case of cold start 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clusters can be used to further associate products and user clusters as we get more user buying data.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1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made 10 clusters of products for our model. 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graph visualizes eco-friendly Amazon products grouped into different clusters using the K-Means clustering algorithm.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Products with similar characteristics are placed closer together in the graph.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PCA (Principal Component Analysis) is used to reduce high-dimensional data into 2 dimensions for visualization.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Each color represents a different product cluster.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Clustering helps identify categories of sustainable products with similar features and user preferences.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These clusters can later be used to recommend products based on user lifestyle patterns and sustainability behavior.</a:t>
            </a:r>
            <a:endParaRPr/>
          </a:p>
        </p:txBody>
      </p:sp>
      <p:sp>
        <p:nvSpPr>
          <p:cNvPr id="273" name="Google Shape;27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Product Data Clustering</a:t>
            </a:r>
            <a:endParaRPr/>
          </a:p>
        </p:txBody>
      </p:sp>
      <p:pic>
        <p:nvPicPr>
          <p:cNvPr id="274" name="Google Shape;274;p41" title="outpu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199" cy="33877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Validation</a:t>
            </a:r>
            <a:endParaRPr/>
          </a:p>
        </p:txBody>
      </p:sp>
      <p:pic>
        <p:nvPicPr>
          <p:cNvPr id="280" name="Google Shape;280;p42" title="Figure_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50025"/>
            <a:ext cx="4313575" cy="308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2" title="Figure_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4074" y="1350026"/>
            <a:ext cx="4108226" cy="308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Lifestyle</a:t>
            </a:r>
            <a:r>
              <a:rPr lang="en"/>
              <a:t> Data Clustering</a:t>
            </a:r>
            <a:endParaRPr/>
          </a:p>
        </p:txBody>
      </p:sp>
      <p:sp>
        <p:nvSpPr>
          <p:cNvPr id="287" name="Google Shape;287;p43"/>
          <p:cNvSpPr txBox="1"/>
          <p:nvPr>
            <p:ph idx="1" type="body"/>
          </p:nvPr>
        </p:nvSpPr>
        <p:spPr>
          <a:xfrm>
            <a:off x="311700" y="1152475"/>
            <a:ext cx="420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 have made 5 clusters of user lifestyle data.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 graph visualizes users grouped according to their sustainability lifestyle patterns.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Users with similar habits such as transportation, energy usage, diet, and consumption patterns are grouped together.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K-Means clustering is used to identify hidden patterns in the lifestyle dataset.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PCA reduces the dataset dimensions to make the clusters easier to visualize.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Different colors represent different lifestyle groups or sustainability levels.</a:t>
            </a:r>
            <a:endParaRPr/>
          </a:p>
          <a:p>
            <a:pPr indent="-30734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These clusters help in understanding user behavior and enable personalized eco-friendly product recommendations.</a:t>
            </a:r>
            <a:endParaRPr/>
          </a:p>
        </p:txBody>
      </p:sp>
      <p:pic>
        <p:nvPicPr>
          <p:cNvPr id="288" name="Google Shape;288;p43" title="outpu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68000" y="1170125"/>
            <a:ext cx="4323599" cy="34325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Validation</a:t>
            </a:r>
            <a:endParaRPr/>
          </a:p>
        </p:txBody>
      </p:sp>
      <p:pic>
        <p:nvPicPr>
          <p:cNvPr id="294" name="Google Shape;294;p44" title="Figure_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89250"/>
            <a:ext cx="4057432" cy="30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44" title="Figure_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5" y="1289245"/>
            <a:ext cx="4260300" cy="30430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</a:t>
            </a:r>
            <a:endParaRPr/>
          </a:p>
        </p:txBody>
      </p:sp>
      <p:sp>
        <p:nvSpPr>
          <p:cNvPr id="301" name="Google Shape;301;p4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We made a Streamlit application based form for our user, where they can answer questions about their lifestyle, which will be used to place them in a specific user cluster.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This user cluster is then used to recommend products from clusters correlated to the user cluster.</a:t>
            </a:r>
            <a:endParaRPr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Thus we can get product recommendations with a cold start user.</a:t>
            </a:r>
            <a:endParaRPr/>
          </a:p>
        </p:txBody>
      </p:sp>
      <p:grpSp>
        <p:nvGrpSpPr>
          <p:cNvPr id="302" name="Google Shape;302;p45"/>
          <p:cNvGrpSpPr/>
          <p:nvPr/>
        </p:nvGrpSpPr>
        <p:grpSpPr>
          <a:xfrm>
            <a:off x="4780725" y="643200"/>
            <a:ext cx="4217352" cy="4316626"/>
            <a:chOff x="4780725" y="643200"/>
            <a:chExt cx="4217352" cy="4316626"/>
          </a:xfrm>
        </p:grpSpPr>
        <p:pic>
          <p:nvPicPr>
            <p:cNvPr id="303" name="Google Shape;303;p45"/>
            <p:cNvPicPr preferRelativeResize="0"/>
            <p:nvPr/>
          </p:nvPicPr>
          <p:blipFill rotWithShape="1">
            <a:blip r:embed="rId3">
              <a:alphaModFix/>
            </a:blip>
            <a:srcRect b="0" l="1166" r="0" t="0"/>
            <a:stretch/>
          </p:blipFill>
          <p:spPr>
            <a:xfrm>
              <a:off x="4780725" y="643200"/>
              <a:ext cx="4217348" cy="216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45"/>
            <p:cNvPicPr preferRelativeResize="0"/>
            <p:nvPr/>
          </p:nvPicPr>
          <p:blipFill rotWithShape="1">
            <a:blip r:embed="rId4">
              <a:alphaModFix/>
            </a:blip>
            <a:srcRect b="0" l="0" r="951" t="0"/>
            <a:stretch/>
          </p:blipFill>
          <p:spPr>
            <a:xfrm>
              <a:off x="4780725" y="2798275"/>
              <a:ext cx="4217352" cy="216155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